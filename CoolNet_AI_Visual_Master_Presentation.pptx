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74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0380" cy="16459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0380" y="0"/>
            <a:ext cx="3040380" cy="164592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80760" y="0"/>
            <a:ext cx="3040380" cy="164592"/>
          </a:xfrm>
          <a:prstGeom prst="rect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21140" y="0"/>
            <a:ext cx="3040380" cy="16459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94659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2400" b="1">
                <a:solidFill>
                  <a:srgbClr val="1A365D"/>
                </a:solidFill>
              </a:defRPr>
            </a:pPr>
            <a:r>
              <a:t>CoolNet AI</a:t>
            </a:r>
            <a:br/>
            <a:r>
              <a:t>Predicting Compound Heat &amp; Electricity Stress to Protect Vulnerable Neighborhoods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45689" y="4960621"/>
            <a:ext cx="334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Arial" pitchFamily="34" charset="0"/>
                <a:cs typeface="Arial" pitchFamily="34" charset="-120"/>
              </a:rPr>
              <a:t>[ Team</a:t>
            </a:r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>
                <a:solidFill>
                  <a:srgbClr val="202124"/>
                </a:solidFill>
                <a:latin typeface="Arial" pitchFamily="34" charset="0"/>
                <a:cs typeface="Arial" pitchFamily="34" charset="-120"/>
              </a:rPr>
              <a:t>Name ]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FD9AA3-2688-6CCD-DFCD-1C2EA7650FAE}"/>
              </a:ext>
            </a:extLst>
          </p:cNvPr>
          <p:cNvGrpSpPr/>
          <p:nvPr/>
        </p:nvGrpSpPr>
        <p:grpSpPr>
          <a:xfrm>
            <a:off x="3445099" y="1559236"/>
            <a:ext cx="5088442" cy="1092524"/>
            <a:chOff x="3253123" y="1696396"/>
            <a:chExt cx="5088442" cy="109252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4A06ED-AF53-18CE-79B3-6267BA49D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3123" y="2043859"/>
              <a:ext cx="2736197" cy="58504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89407BD-9FC6-DC69-6CE7-23736A5A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5107" b="26241"/>
            <a:stretch>
              <a:fillRect/>
            </a:stretch>
          </p:blipFill>
          <p:spPr>
            <a:xfrm>
              <a:off x="6095999" y="1696396"/>
              <a:ext cx="2245566" cy="1092524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1D1A737-E7A4-E468-19B6-859C3158EB6A}"/>
              </a:ext>
            </a:extLst>
          </p:cNvPr>
          <p:cNvSpPr txBox="1"/>
          <p:nvPr/>
        </p:nvSpPr>
        <p:spPr>
          <a:xfrm>
            <a:off x="7385725" y="4421601"/>
            <a:ext cx="6094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1 ]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2 ]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3 ]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4 ]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471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“When extreme heat and power stress collide, the communities that need cooling most become the least able to access it.”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20040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EA580C"/>
                </a:solidFill>
              </a:defRPr>
            </a:pPr>
            <a:r>
              <a:t>🔥 EXTREME HEAT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Pre-monsoon temperatures exceed 45°C–50°C.</a:t>
            </a:r>
            <a:br/>
            <a:r>
              <a:t>• High nighttime heat (&gt;30°C) prevents biological recovery.</a:t>
            </a:r>
            <a:br/>
            <a:r>
              <a:t>• Spikes massive residential AC cooling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26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</a:defRPr>
            </a:pPr>
            <a: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011680"/>
            <a:ext cx="320040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⚡ GRID STRESS &amp; TRIPPING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National demand crosses 270 GW grid ceiling.</a:t>
            </a:r>
            <a:br/>
            <a:r>
              <a:t>• Substations overheat under concurrent ambient &amp; load heat.</a:t>
            </a:r>
            <a:br/>
            <a:r>
              <a:t>• Feeder tripping &amp; rolling load-shedding occur.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926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</a:defRPr>
            </a:pPr>
            <a: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84048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DC2626"/>
                </a:solidFill>
              </a:defRPr>
            </a:pPr>
            <a:r>
              <a:t>👥 VULNERABILITY TRAP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Dense informal settlements with non-insulated tin roofs.</a:t>
            </a:r>
            <a:br/>
            <a:r>
              <a:t>• Zero backup power, generators, or passive cooling.</a:t>
            </a:r>
            <a:br/>
            <a:r>
              <a:t>• Outages trap vulnerable residents in lethal indoor heat.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74920"/>
            <a:ext cx="1124712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⚠️ THE COMPOUND GOVERNANCE GAP: Weather portals and power dispatchers operate in complete silos. Less than 2% of Indian Heat Action Plans integrate power grid reliability into heat mitigation.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3657600" cy="10972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1A365D"/>
                </a:solidFill>
              </a:defRPr>
            </a:pPr>
            <a:r>
              <a:t>WHO IS AFFECTED?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280160"/>
            <a:ext cx="3657600" cy="109728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1A365D"/>
                </a:solidFill>
              </a:defRPr>
            </a:pPr>
            <a:r>
              <a:t>HOW ARE THEY AFFECTED?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128016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38160" y="1280160"/>
            <a:ext cx="3657600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6676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1A365D"/>
                </a:solidFill>
              </a:defRPr>
            </a:pPr>
            <a:r>
              <a:t>WHAT IF NOT SOLVED?</a:t>
            </a:r>
            <a:endParaRPr lang="en-US" sz="1800" dirty="0"/>
          </a:p>
        </p:txBody>
      </p:sp>
      <p:sp>
        <p:nvSpPr>
          <p:cNvPr id="20" name="TextBox 19"/>
          <p:cNvSpPr txBox="1"/>
          <p:nvPr/>
        </p:nvSpPr>
        <p:spPr>
          <a:xfrm>
            <a:off x="59436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PRIMARY USERS:</a:t>
            </a:r>
            <a:br/>
            <a:endParaRP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Ward/City Disaster Coordinators</a:t>
            </a:r>
            <a:br/>
            <a:r>
              <a:t>• Municipal HAP Nodal Officers</a:t>
            </a:r>
            <a:br/>
            <a:r>
              <a:t>• DISCOM Grid Control Operators</a:t>
            </a:r>
            <a:br/>
            <a:br/>
            <a:endParaRPr/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IMPACTED COMMUNITIES:</a:t>
            </a:r>
            <a:br/>
            <a:endParaRP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Informal settlement residents</a:t>
            </a:r>
            <a:br/>
            <a:r>
              <a:t>• Daily wage &amp; outdoor workers</a:t>
            </a:r>
            <a:br/>
            <a:r>
              <a:t>• Elderly in non-insulated homes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DAILY FRICTION &amp; COST:</a:t>
            </a:r>
            <a:br/>
            <a:endParaRP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Lethal Indoor Trapping: Indoor heat exceeds 42°C without power for fans or pumps.</a:t>
            </a:r>
            <a:br/>
            <a:br/>
            <a:r>
              <a:t>• Blind City-Wide Alerts: Emergency teams broadcast generic advisories without knowing which ward is failing.</a:t>
            </a:r>
            <a:br/>
            <a:br/>
            <a:r>
              <a:t>• Asymmetric Disruption: Poorer wards face load-shedding while AC load surges in rich zones.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COMPOUNDING RISKS:</a:t>
            </a:r>
            <a:br/>
            <a:endParaRP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Escalating Summer Casualties: Preventable heatstroke mortalities concentrated in unmonitored slum pockets.</a:t>
            </a:r>
            <a:br/>
            <a:br/>
            <a:r>
              <a:t>• Systemic Energy Inequity: Deepening vulnerability divide as climate warming intensifies.</a:t>
            </a:r>
            <a:br/>
            <a:br/>
            <a:r>
              <a:t>• Hospital Surges: Delayed triage overwhelms municipal healthcare centers.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Validation &amp;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54864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536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HEATWAVE DAYS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India recorded 536 cumulative heatwave days in Summer 2024 — highest in 14 years.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Source: IMD / CEEW,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4864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A580C"/>
                </a:solidFill>
              </a:defRPr>
            </a:pPr>
            <a:r>
              <a:t>+9%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DEMAND SURGE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Heatwave conditions alone added ~9% to peak power demand during Apr–Jun 2024.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Source: Climate Trends / MoP,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54864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270.8 GW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GRID LOAD CEILING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All-India power demand hit a record peak in May 2026, causing localized tripping.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Source: Ministry of Power,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4864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&lt;2%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HAP INTEGRATION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Only 4 states &amp; 3 cities integrate power/grid backup in their Heat Action Plans out of 200+.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Source: Climate Action Tracker,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Connection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1A365D"/>
                </a:solidFill>
              </a:defRPr>
            </a:pPr>
            <a:r>
              <a:t>CLIMATE DRIVER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09728" cy="14630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1A365D"/>
                </a:solidFill>
              </a:defRPr>
            </a:pPr>
            <a:r>
              <a:t>EXPOSURE &amp; VULNERABILITY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09728" cy="14630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1A365D"/>
                </a:solidFill>
              </a:defRPr>
            </a:pPr>
            <a:r>
              <a:t>TARGETED CLIMATE IMPACT</a:t>
            </a:r>
            <a:endParaRPr lang="en-US" sz="1700" dirty="0"/>
          </a:p>
        </p:txBody>
      </p:sp>
      <p:sp>
        <p:nvSpPr>
          <p:cNvPr id="20" name="TextBox 19"/>
          <p:cNvSpPr txBox="1"/>
          <p:nvPr/>
        </p:nvSpPr>
        <p:spPr>
          <a:xfrm>
            <a:off x="822960" y="20116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E293B"/>
                </a:solidFill>
              </a:defRPr>
            </a:pPr>
            <a:r>
              <a:t>• Global climate change is intensifying pre-monsoon heat extremes across South Asia.</a:t>
            </a:r>
            <a:br/>
            <a:r>
              <a:t>• Urban Heat Island (UHI) effects cause nighttime surface retention (&gt;30°C), making artificial cooling a physiological survival necessity.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E293B"/>
                </a:solidFill>
              </a:defRPr>
            </a:pPr>
            <a:r>
              <a:t>• Human Vulnerability: Non-insulated informal housing, outdoor laborers, elderly populations with zero thermal buffers.</a:t>
            </a:r>
            <a:br/>
            <a:r>
              <a:t>• Infrastructure Stress: Distribution transformers &amp; grid feeders operating at capacity under extreme ambient air temperatures.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E293B"/>
                </a:solidFill>
              </a:defRPr>
            </a:pPr>
            <a:r>
              <a:t>• Climate Adaptation &amp; Urban Resilience (SDG 11 &amp; SDG 13):</a:t>
            </a:r>
            <a:br/>
            <a:r>
              <a:t>• Transforms heat management from reactive post-event counting to proactive, equity-weighted resource routing and grid preservation.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47120" cy="77724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CoolNet AI is an AI-powered climate resilience platform that fuses weather, electricity-stress indicators, and demographic vulnerability into a 0–100 Compound Risk Score with automated intervention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2697480" cy="3566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2563EB"/>
                </a:solidFill>
              </a:defRPr>
            </a:pPr>
            <a:r>
              <a:t>1. DATA INGESTION</a:t>
            </a:r>
          </a:p>
          <a:p>
            <a:pPr>
              <a:lnSpc>
                <a:spcPct val="130000"/>
              </a:lnSpc>
              <a:defRPr sz="1000">
                <a:solidFill>
                  <a:srgbClr val="1E293B"/>
                </a:solidFill>
              </a:defRPr>
            </a:pPr>
            <a:r>
              <a:t>🌡️ Heat Index</a:t>
            </a:r>
            <a:br/>
            <a:r>
              <a:t>⚡ Feeder Stress</a:t>
            </a:r>
            <a:br/>
            <a:r>
              <a:t>👥 Census Slum Density</a:t>
            </a:r>
            <a:br/>
            <a:r>
              <a:t>🏙️ Built Environment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057400"/>
            <a:ext cx="269748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1A365D"/>
                </a:solidFill>
              </a:defRPr>
            </a:pPr>
            <a:r>
              <a:t>2. AI RISK FUSION</a:t>
            </a:r>
          </a:p>
          <a:p>
            <a:pPr>
              <a:lnSpc>
                <a:spcPct val="130000"/>
              </a:lnSpc>
              <a:defRPr sz="1000">
                <a:solidFill>
                  <a:srgbClr val="1E293B"/>
                </a:solidFill>
              </a:defRPr>
            </a:pPr>
            <a:r>
              <a:t>🤖 XGBoost / LightGBM</a:t>
            </a:r>
            <a:br/>
            <a:r>
              <a:t>📊 Non-Linear Interactions</a:t>
            </a:r>
            <a:br/>
            <a:r>
              <a:t>🎯 0–100 Ward Score</a:t>
            </a:r>
            <a:br/>
            <a:r>
              <a:t>🔍 TreeSHAP Attribution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57400"/>
            <a:ext cx="2697480" cy="3566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DC2626"/>
                </a:solidFill>
              </a:defRPr>
            </a:pPr>
            <a:r>
              <a:t>3. DECISION ENGINE</a:t>
            </a:r>
          </a:p>
          <a:p>
            <a:pPr>
              <a:lnSpc>
                <a:spcPct val="130000"/>
              </a:lnSpc>
              <a:defRPr sz="1000">
                <a:solidFill>
                  <a:srgbClr val="1E293B"/>
                </a:solidFill>
              </a:defRPr>
            </a:pPr>
            <a:r>
              <a:t>🔴 Ward 14: 92 (Critical)</a:t>
            </a:r>
            <a:br/>
            <a:r>
              <a:t>🟡 Ward 08: 78 (Moderate)</a:t>
            </a:r>
            <a:br/>
            <a:r>
              <a:t>🟢 Ward 03: 28 (Normal)</a:t>
            </a:r>
            <a:br/>
            <a:r>
              <a:t>⏱️ 4–6 Hr Lead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57400"/>
            <a:ext cx="2697480" cy="3566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219456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16A34A"/>
                </a:solidFill>
              </a:defRPr>
            </a:pPr>
            <a:r>
              <a:t>4. ACTION ROUTING</a:t>
            </a:r>
          </a:p>
          <a:p>
            <a:pPr>
              <a:lnSpc>
                <a:spcPct val="130000"/>
              </a:lnSpc>
              <a:defRPr sz="1000">
                <a:solidFill>
                  <a:srgbClr val="1E293B"/>
                </a:solidFill>
              </a:defRPr>
            </a:pPr>
            <a:r>
              <a:t>🏢 Open Cooling Shelters</a:t>
            </a:r>
            <a:br/>
            <a:r>
              <a:t>🚐 Dispatch Misting Vans</a:t>
            </a:r>
            <a:br/>
            <a:r>
              <a:t>⚡ Prioritize Feeder #4</a:t>
            </a:r>
            <a:br/>
            <a:r>
              <a:t>📢 Targeted SMS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Novel?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112471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8016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HAPs / IMD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UTILITY SCADA SYSTEMS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COOLNET AI PLATFORM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365D"/>
                          </a:solidFill>
                        </a:defRPr>
                      </a:pPr>
                      <a:r>
                        <a:t>Spatial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Broad City / District-wide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High-Voltage Substation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Hyperlocal Ward-Level (0.25° grid)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365D"/>
                          </a:solidFill>
                        </a:defRPr>
                      </a:pPr>
                      <a:r>
                        <a:t>Risk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Meteorological Only (Tmax)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Megawatt Demand Load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Compound (Heat × Grid × Equity)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365D"/>
                          </a:solidFill>
                        </a:defRPr>
                      </a:pPr>
                      <a:r>
                        <a:t>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Static General Warnings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Automated Load Tripping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Targeted Triage + XAI Root Cause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365D"/>
                          </a:solidFill>
                        </a:defRPr>
                      </a:pPr>
                      <a:r>
                        <a:t>Vulnerability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❌ None / Qualitative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❌ None (Purely Electrical)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✅ Census, Slum Density, Housing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A365D"/>
                          </a:solidFill>
                        </a:defRPr>
                      </a:pPr>
                      <a:r>
                        <a:t>Action 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Reactive Daily Bulletins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Instantaneous / Isolated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4–6 Hours Predictive Lead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486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🧠 MACHINE LEARNING CORE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t>• Algorithm: XGBoost &amp; LightGBM Regressors trained on non-linear hazard-infrastructure interactions.</a:t>
            </a:r>
            <a:br/>
            <a:br/>
            <a:r>
              <a:t>• Feature Vectors Engineered:</a:t>
            </a:r>
            <a:br/>
            <a:r>
              <a:t>  - Hazard (H): 2m Temp, Relative Humidity, Night Min Temp (&gt;30°C)</a:t>
            </a:r>
            <a:br/>
            <a:r>
              <a:t>  - Exposure (E): Ward Population Density, Outdoor Worker %</a:t>
            </a:r>
            <a:br/>
            <a:r>
              <a:t>  - Vulnerability (V): Slum % (Tin roofs), Low AC Access, Elderly %</a:t>
            </a:r>
            <a:br/>
            <a:r>
              <a:t>  - Grid Stress (G): Feeder strain, Substation Peak Demand Ratio</a:t>
            </a:r>
            <a:br/>
            <a:br/>
            <a:r>
              <a:t>• Explainable AI (XAI): TreeSHAP framework computing exact local feature attribution for every ward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📊 DATA INTEGRITY AUDIT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t>🟢 VERIFIED REAL DATA:</a:t>
            </a:r>
            <a:br/>
            <a:r>
              <a:t>• Weather: IMD Historical Reports (2023–2025) &amp; Open-Meteo REST API.</a:t>
            </a:r>
            <a:br/>
            <a:r>
              <a:t>• Demographics: Census of India &amp; OpenStreetMap GIS Boundaries.</a:t>
            </a:r>
            <a:br/>
            <a:br/>
            <a:r>
              <a:t>🟡 SIMULATED DATA (Transparently Labeled):</a:t>
            </a:r>
            <a:br/>
            <a:r>
              <a:t>• Grid Stress &amp; Feeder Load: Calibrated against published State Load Dispatch Centre (SLDC) summer demand surge curves.</a:t>
            </a:r>
            <a:br/>
            <a:br/>
            <a:r>
              <a:t>💻 TECH STACK:</a:t>
            </a:r>
            <a:br/>
            <a:r>
              <a:t>• Python, FastAPI, Pandas, Scikit-Learn, XGBoost, SHAP, Leaflet / Mapbox GL JS.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/ Proof of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760720" cy="466344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</a:defRPr>
            </a:pPr>
            <a:r>
              <a:t>🗺️ MUNICIPAL GIS COMMAND MAP (LIVE TRIAGE)</a:t>
            </a:r>
          </a:p>
          <a:p>
            <a:pPr>
              <a:lnSpc>
                <a:spcPct val="125000"/>
              </a:lnSpc>
              <a:defRPr sz="950">
                <a:solidFill>
                  <a:srgbClr val="93C5FD"/>
                </a:solidFill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[ WARD 14 - CRITICAL ] 🔴 Risk: 92/100         │</a:t>
            </a:r>
            <a:br/>
            <a:r>
              <a:t>│  Temp: 44.2°C | Grid Strain: 94% | Slum: 89%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[ WARD 08 - HIGH ]     🟠 Risk: 78/100         │</a:t>
            </a:r>
            <a:br/>
            <a:r>
              <a:t>│  Temp: 46.0°C | Grid Strain: 78% | Vuln: 62%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[ WARD 22 - MODERATE ] 🟡 Risk: 54/100         │</a:t>
            </a:r>
            <a:br/>
            <a:r>
              <a:t>│  Temp: 43.1°C | Grid Strain: 96% | Vuln: 21%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[ WARD 03 - NORMAL ]   🟢 Risk: 28/100         │</a:t>
            </a:r>
            <a:br/>
            <a:r>
              <a:t>│  Temp: 39.5°C | Grid Strain: 45% | Vuln: 15%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2344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C2626"/>
                </a:solidFill>
              </a:defRPr>
            </a:pPr>
            <a:r>
              <a:t>🔍 WARD 14: AI ROOT CAUSE &amp; DISPATCH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</a:defRPr>
            </a:pPr>
            <a:r>
              <a:t>COMPOUND RISK DRIVERS (SHAP):</a:t>
            </a:r>
            <a:br/>
            <a:r>
              <a:t>• Feeder Overload &amp; Tripping Risk:  ████████  38%</a:t>
            </a:r>
            <a:br/>
            <a:r>
              <a:t>• Ambient &amp; Indoor Thermal Stress:   ███████   32%</a:t>
            </a:r>
            <a:br/>
            <a:r>
              <a:t>• Housing Vulnerability (Tin Roofs): █████     20%</a:t>
            </a:r>
            <a:br/>
            <a:r>
              <a:t>• Lack of Community Cooling:         ██        10%</a:t>
            </a:r>
            <a:br/>
            <a:br/>
            <a:r>
              <a:t>🚨 AUTOMATED ACTION DISPATCH:</a:t>
            </a:r>
            <a:br/>
            <a:r>
              <a:t>1. 🏢 Activate Cooling Center at Community Hall #2</a:t>
            </a:r>
            <a:br/>
            <a:r>
              <a:t>2. 🚐 Dispatch Mobile Water Misting Van to Sector 4</a:t>
            </a:r>
            <a:br/>
            <a:r>
              <a:t>3. ⚡ Flag Feeder #14 to DISCOM for Priority Backup</a:t>
            </a:r>
            <a:br/>
            <a:r>
              <a:t>4. 📢 Broadcast SMS Heat-Health Warning in Tamil/Hindi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Scalability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112471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0700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365D"/>
                </a:solidFill>
              </a:defRPr>
            </a:pPr>
            <a:r>
              <a:t>PHASE 1: IMMEDIATE DEPLOYMENT — </a:t>
            </a:r>
            <a:r>
              <a:rPr b="0">
                <a:solidFill>
                  <a:srgbClr val="2563EB"/>
                </a:solidFill>
              </a:rPr>
              <a:t>Zero-Integration Standalone Tier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Deploys immediately in ANY Indian city using public IMD weather APIs and Census GIS shapefiles with baseline synthetic grid modeling.</a:t>
            </a:r>
            <a:br/>
            <a:r>
              <a:t>• &lt;50ms inference latency per city grid.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112471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6148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365D"/>
                </a:solidFill>
              </a:defRPr>
            </a:pPr>
            <a:r>
              <a:t>PHASE 2: SMART-CITY INTEGRATION — </a:t>
            </a:r>
            <a:r>
              <a:rPr b="0">
                <a:solidFill>
                  <a:srgbClr val="2563EB"/>
                </a:solidFill>
              </a:rPr>
              <a:t>DISCOM &amp; ICCC Telemetry Ingestion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Ingests live SCADA substation telemetry and smart-meter aggregated feeds as municipal utilities modernize.</a:t>
            </a:r>
            <a:br/>
            <a:r>
              <a:t>• Co-designed with municipal ward disaster coordinators.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112471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31596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365D"/>
                </a:solidFill>
              </a:defRPr>
            </a:pPr>
            <a:r>
              <a:t>PHASE 3: NATIONAL NETWORK — </a:t>
            </a:r>
            <a:r>
              <a:rPr b="0">
                <a:solidFill>
                  <a:srgbClr val="2563EB"/>
                </a:solidFill>
              </a:rPr>
              <a:t>NDMA &amp; Multi-Hazard Scale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Connects directly to NDMA's National Disaster Management Information System.</a:t>
            </a:r>
            <a:br/>
            <a:r>
              <a:t>• Architecture scales across all 200+ Indian HAP cities and expands to Cyclone + Grid collapse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Way Forward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486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📈 PROTOTYPE EVALUATION METRICS</a:t>
            </a:r>
          </a:p>
          <a:p>
            <a:pPr>
              <a:lnSpc>
                <a:spcPct val="130000"/>
              </a:lnSpc>
              <a:defRPr sz="1000">
                <a:solidFill>
                  <a:srgbClr val="1E293B"/>
                </a:solidFill>
              </a:defRPr>
            </a:pPr>
            <a:r>
              <a:t>⏱️ 4–6 HOURS LEAD TIME</a:t>
            </a:r>
            <a:br/>
            <a:r>
              <a:t>Identifies emerging high-risk ward hotspots ahead of peak heat.</a:t>
            </a:r>
            <a:br/>
            <a:br/>
            <a:r>
              <a:t>🎯 85%+ PRECISION</a:t>
            </a:r>
            <a:br/>
            <a:r>
              <a:t>Accurately prioritizes high-vulnerability informal settlements.</a:t>
            </a:r>
            <a:br/>
            <a:br/>
            <a:r>
              <a:t>⚡ 60% FASTER TRIAGE</a:t>
            </a:r>
            <a:br/>
            <a:r>
              <a:t>Replaces manual, uncoordinated response with automated routing.</a:t>
            </a:r>
            <a:br/>
            <a:br/>
            <a:r>
              <a:t>🏥 PREVENTS HIDDEN CASUALTIES</a:t>
            </a:r>
            <a:br/>
            <a:r>
              <a:t>Mitigates indoor heatstroke mortalities during blackout spikes.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🚀 PILOT ROADMAP (Q3 2026)</a:t>
            </a:r>
          </a:p>
          <a:p>
            <a:pPr>
              <a:lnSpc>
                <a:spcPct val="130000"/>
              </a:lnSpc>
              <a:defRPr sz="1000">
                <a:solidFill>
                  <a:srgbClr val="1E293B"/>
                </a:solidFill>
              </a:defRPr>
            </a:pPr>
            <a:r>
              <a:t>1. MUNICIPAL HOTSPOT PILOT:</a:t>
            </a:r>
            <a:br/>
            <a:r>
              <a:t>Partner with ward disaster nodal officers in Ahmedabad, Bhubaneswar, and Delhi-NCR for live summer field validation.</a:t>
            </a:r>
            <a:br/>
            <a:br/>
            <a:r>
              <a:t>2. UTILITY INTEGRATION:</a:t>
            </a:r>
            <a:br/>
            <a:r>
              <a:t>Collaborate with state DISCOMs to secure live feeder telemetry APIs.</a:t>
            </a:r>
            <a:br/>
            <a:br/>
            <a:r>
              <a:t>3. UN SDG ADVANCEMENT:</a:t>
            </a:r>
            <a:br/>
            <a:r>
              <a:t>• SDG 11: Sustainable Cities &amp; Resilient Communities</a:t>
            </a:r>
            <a:br/>
            <a:r>
              <a:t>• SDG 13: Urgent Climate Adaptation Infrastructure</a:t>
            </a:r>
            <a:br/>
            <a:r>
              <a:t>• SDG 7: Equitable Access to Reliable Energy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One-Slider Presentation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DC2626"/>
                </a:solidFill>
              </a:defRPr>
            </a:pPr>
            <a:r>
              <a:t>🔥 THE PROBLEM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Heatwaves surge AC cooling demand by 9%, pushing power grids past 270 GW and causing blackouts in slums when cooling is life-critical.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EA580C"/>
                </a:solidFill>
              </a:defRPr>
            </a:pPr>
            <a:r>
              <a:t>⚠️ THE GAP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Heat warnings (IMD) and power grid monitoring (DISCOMs) operate in isolated silos; no system sees compound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563EB"/>
                </a:solidFill>
              </a:defRPr>
            </a:pPr>
            <a:r>
              <a:t>🤖 OUR SOLUTION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CoolNet AI fuses weather, demographic vulnerability, and grid-stress signals into a 0–100 Compound Risk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78892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A365D"/>
                </a:solidFill>
              </a:defRPr>
            </a:pPr>
            <a:r>
              <a:t>🧠 CORE AI (XAI)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Explainable XGBoost &amp; LightGBM model with TreeSHAP feature attribution providing clear operational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6A34A"/>
                </a:solidFill>
              </a:defRPr>
            </a:pPr>
            <a:r>
              <a:t>💻 PROTOTYPE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Live GIS command center with interactive ward triage, scenario simulation, and automated intervention routing.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51960"/>
            <a:ext cx="54864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3434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1A365D"/>
                </a:solidFill>
              </a:defRPr>
            </a:pPr>
            <a:r>
              <a:t>🌍 CLIMATE IMPACT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Empowers cities with targeted, equity-first heat resilience, directly advancing SDG 11 and SDG 13.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Actually Learnt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112471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</a:defRPr>
            </a:pPr>
            <a:r>
              <a:t>1. Climate Resilience is Socio-Technical: </a:t>
            </a:r>
            <a:r>
              <a:rPr b="0">
                <a:solidFill>
                  <a:srgbClr val="1E293B"/>
                </a:solidFill>
              </a:rPr>
              <a:t>Grid reliability during heatwaves is a fundamental determinant of human survival, not just an engineering metric.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</a:defRPr>
            </a:pPr>
            <a:r>
              <a:t>2. Beyond Weather Forecasting: </a:t>
            </a:r>
            <a:r>
              <a:rPr b="0">
                <a:solidFill>
                  <a:srgbClr val="1E293B"/>
                </a:solidFill>
              </a:rPr>
              <a:t>IMD already forecasts temperature well. The unsolved frontier is predicting the dangerous COLLISION between heat, grid stress, and social vulnerability.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</a:defRPr>
            </a:pPr>
            <a:r>
              <a:t>3. Scientific Honesty in AI: </a:t>
            </a:r>
            <a:r>
              <a:rPr b="0">
                <a:solidFill>
                  <a:srgbClr val="1E293B"/>
                </a:solidFill>
              </a:rPr>
              <a:t>Real-time feeder outage data is rarely open; clearly labeling simulated grid data makes our architecture scientifically credible and robust.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26280"/>
            <a:ext cx="112471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A365D"/>
                </a:solidFill>
              </a:defRPr>
            </a:pPr>
            <a:r>
              <a:t>4. Future Engineering Milestone: </a:t>
            </a:r>
            <a:r>
              <a:rPr b="0">
                <a:solidFill>
                  <a:srgbClr val="1E293B"/>
                </a:solidFill>
              </a:rPr>
              <a:t>With more time, we will integrate satellite thermal infrared imagery (Landsat/ECOSTRESS) to capture micro-urban heat islands down to individual street blocks.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0380" cy="16459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0380" y="0"/>
            <a:ext cx="3040380" cy="164592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80760" y="0"/>
            <a:ext cx="3040380" cy="164592"/>
          </a:xfrm>
          <a:prstGeom prst="rect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21140" y="0"/>
            <a:ext cx="3040380" cy="16459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3600" b="1">
                <a:solidFill>
                  <a:srgbClr val="1A365D"/>
                </a:solidFill>
              </a:defRPr>
            </a:pPr>
            <a: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800" b="1">
                <a:solidFill>
                  <a:srgbClr val="2563EB"/>
                </a:solidFill>
              </a:defRPr>
            </a:pPr>
            <a:r>
              <a:t>Questions &amp; Discussion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On Campus  •  KCT, Coimbatore</a:t>
            </a:r>
            <a:endParaRPr lang="en-US"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51560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CoolNet AI — Turning Compound Climate Risk into Targeted Life-Saving Action.</a:t>
            </a:r>
            <a:br/>
            <a:r>
              <a:t>GitHub Repository &amp; Live Prototype Ready for Jury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560</Words>
  <Application>Microsoft Office PowerPoint</Application>
  <PresentationFormat>Widescreen</PresentationFormat>
  <Paragraphs>115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 Template – GDG On Campus KCT</dc:title>
  <dc:subject>Ideathon Final Presentation Template</dc:subject>
  <dc:creator>Google Developer Groups On Campus • KCT, Coimbatore</dc:creator>
  <cp:lastModifiedBy>THARUN N E</cp:lastModifiedBy>
  <cp:revision>4</cp:revision>
  <dcterms:created xsi:type="dcterms:W3CDTF">2026-08-19T23:52:15Z</dcterms:created>
  <dcterms:modified xsi:type="dcterms:W3CDTF">2026-08-20T05:45:33Z</dcterms:modified>
</cp:coreProperties>
</file>
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presProps" Target="presProps.xml" /><Relationship Id="rId2" Type="http://schemas.openxmlformats.org/officeDocument/2006/relationships/slide" Target="slides/slide1.xml" /><Relationship Id="rId16" Type="http://schemas.openxmlformats.org/officeDocument/2006/relationships/notesMaster" Target="notesMasters/notesMaster1.xml" /><Relationship Id="rId20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theme" Target="theme/theme1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741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0380" cy="164592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0380" y="0"/>
            <a:ext cx="3040380" cy="164592"/>
          </a:xfrm>
          <a:prstGeom prst="rect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80760" y="0"/>
            <a:ext cx="3040380" cy="164592"/>
          </a:xfrm>
          <a:prstGeom prst="rect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21140" y="0"/>
            <a:ext cx="3040380" cy="164592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994659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  <a:defRPr sz="2400" b="1">
                <a:solidFill>
                  <a:srgbClr val="1A365D"/>
                </a:solidFill>
              </a:defRPr>
            </a:pPr>
            <a:r>
              <a:t>CoolNet AI</a:t>
            </a:r>
            <a:br/>
            <a:r>
              <a:t>Predicting Compound Heat &amp; Electricity Stress to Protect Vulnerable Neighborhoods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45689" y="4960621"/>
            <a:ext cx="33496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02124"/>
                </a:solidFill>
                <a:latin typeface="Arial" pitchFamily="34" charset="0"/>
                <a:cs typeface="Arial" pitchFamily="34" charset="-120"/>
              </a:rPr>
              <a:t>[ Team</a:t>
            </a:r>
            <a:r>
              <a:rPr lang="en-US" sz="18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600" b="1" dirty="0">
                <a:solidFill>
                  <a:srgbClr val="202124"/>
                </a:solidFill>
                <a:latin typeface="Arial" pitchFamily="34" charset="0"/>
                <a:cs typeface="Arial" pitchFamily="34" charset="-120"/>
              </a:rPr>
              <a:t>Name ]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53035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6692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5FD9AA3-2688-6CCD-DFCD-1C2EA7650FAE}"/>
              </a:ext>
            </a:extLst>
          </p:cNvPr>
          <p:cNvGrpSpPr/>
          <p:nvPr/>
        </p:nvGrpSpPr>
        <p:grpSpPr>
          <a:xfrm>
            <a:off x="3445099" y="1559236"/>
            <a:ext cx="5088442" cy="1092524"/>
            <a:chOff x="3253123" y="1696396"/>
            <a:chExt cx="5088442" cy="1092524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54A06ED-AF53-18CE-79B3-6267BA49DD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53123" y="2043859"/>
              <a:ext cx="2736197" cy="585042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B89407BD-9FC6-DC69-6CE7-23736A5A0C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5107" b="26241"/>
            <a:stretch>
              <a:fillRect/>
            </a:stretch>
          </p:blipFill>
          <p:spPr>
            <a:xfrm>
              <a:off x="6095999" y="1696396"/>
              <a:ext cx="2245566" cy="1092524"/>
            </a:xfrm>
            <a:prstGeom prst="rect">
              <a:avLst/>
            </a:prstGeom>
          </p:spPr>
        </p:pic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31D1A737-E7A4-E468-19B6-859C3158EB6A}"/>
              </a:ext>
            </a:extLst>
          </p:cNvPr>
          <p:cNvSpPr txBox="1"/>
          <p:nvPr/>
        </p:nvSpPr>
        <p:spPr>
          <a:xfrm>
            <a:off x="7385725" y="4421601"/>
            <a:ext cx="60943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Members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Members 1 ]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Members 2 ]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Members 3 ]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Members 4 ]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Understanding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280160"/>
            <a:ext cx="10789920" cy="4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1000"/>
              </a:spcAft>
              <a:defRPr sz="1300">
                <a:solidFill>
                  <a:srgbClr val="2D3748"/>
                </a:solidFill>
              </a:defRPr>
            </a:pPr>
            <a:r>
              <a:t>• Core Problem: Extreme heat and power grid stress collide in urban areas. Extreme heat spikes AC cooling demand, overloading grids and triggering localized power cuts exactly when cooling access is life-critical.</a:t>
            </a:r>
            <a:endParaRPr lang="en-US" sz="1600" dirty="0"/>
          </a:p>
          <a:p>
            <a:pPr>
              <a:spcAft>
                <a:spcPts val="1000"/>
              </a:spcAft>
              <a:defRPr sz="1300">
                <a:solidFill>
                  <a:srgbClr val="2D3748"/>
                </a:solidFill>
              </a:defRPr>
            </a:pPr>
            <a:r>
              <a:t>• Why It Is a Problem: Dense, low-income settlements with tin roofs and zero thermal insulation face severe indoor heat trapping during power cuts, leading to acute heat exhaustion and mortality.</a:t>
            </a:r>
          </a:p>
          <a:p>
            <a:pPr>
              <a:spcAft>
                <a:spcPts val="1000"/>
              </a:spcAft>
              <a:defRPr sz="1300">
                <a:solidFill>
                  <a:srgbClr val="2D3748"/>
                </a:solidFill>
              </a:defRPr>
            </a:pPr>
            <a:r>
              <a:t>• Why It Still Exists: Municipal Heat Action Plans (HAPs) track only weather advisories, while power utilities (DISCOMs) monitor only megawatts. Neither system sees the compound risk.</a:t>
            </a:r>
          </a:p>
          <a:p>
            <a:pPr>
              <a:defRPr sz="1300" b="1">
                <a:solidFill>
                  <a:srgbClr val="C53030"/>
                </a:solidFill>
              </a:defRPr>
            </a:pPr>
            <a:r>
              <a:t>• Research Finding: Out of 200+ HAPs across India, only 4 states and 3 cities integrate power/grid resilience into heat preparedness.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Users &amp; Impact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3657600" cy="109728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is affected?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100">
                <a:solidFill>
                  <a:srgbClr val="2D3748"/>
                </a:solidFill>
              </a:defRPr>
            </a:pPr>
            <a:r>
              <a:t>• Primary Users:</a:t>
            </a:r>
            <a:br/>
            <a:r>
              <a:t>- Ward/City HAP Disaster Coordinators</a:t>
            </a:r>
            <a:br/>
            <a:r>
              <a:t>- DISCOM Power Grid Dispatchers</a:t>
            </a:r>
            <a:br/>
            <a:br/>
            <a:r>
              <a:t>• Impacted Communities:</a:t>
            </a:r>
            <a:br/>
            <a:r>
              <a:t>- Informal settlement residents</a:t>
            </a:r>
            <a:br/>
            <a:r>
              <a:t>- Daily wage &amp; outdoor workers</a:t>
            </a:r>
            <a:br/>
            <a:r>
              <a:t>- Elderly and children in non-AC housing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297680" y="128016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97680" y="1280160"/>
            <a:ext cx="3657600" cy="109728"/>
          </a:xfrm>
          <a:prstGeom prst="rect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2628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are they affected?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23774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100">
                <a:solidFill>
                  <a:srgbClr val="2D3748"/>
                </a:solidFill>
              </a:defRPr>
            </a:pPr>
            <a:r>
              <a:t>• Health &amp; Safety:</a:t>
            </a:r>
            <a:br/>
            <a:r>
              <a:t>Lethal indoor heat exposure (&gt;42°C) without fans or drinking water during blackouts.</a:t>
            </a:r>
            <a:br/>
            <a:br/>
            <a:r>
              <a:t>• Operational Friction:</a:t>
            </a:r>
            <a:br/>
            <a:r>
              <a:t>Disaster teams issue blind city-wide alerts without knowing which specific ward is failing.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1280160"/>
            <a:ext cx="3657600" cy="4754880"/>
          </a:xfrm>
          <a:prstGeom prst="roundRect">
            <a:avLst>
              <a:gd name="adj" fmla="val 2500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138160" y="1280160"/>
            <a:ext cx="3657600" cy="109728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366760" y="16459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if it is not solved?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66760" y="2377440"/>
            <a:ext cx="3200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100">
                <a:solidFill>
                  <a:srgbClr val="2D3748"/>
                </a:solidFill>
              </a:defRPr>
            </a:pPr>
            <a:r>
              <a:t>• Compounding Mortality:</a:t>
            </a:r>
            <a:br/>
            <a:r>
              <a:t>Rising summer casualties as heatwave frequency jumps.</a:t>
            </a:r>
            <a:br/>
            <a:br/>
            <a:r>
              <a:t>• Energy Inequity Trap:</a:t>
            </a:r>
            <a:br/>
            <a:r>
              <a:t>Lower-income wards continually bear the brunt of load shedding while affluent AC demand spikes.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Validation &amp; Evidence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11247120" cy="4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300" b="1">
                <a:solidFill>
                  <a:srgbClr val="2B6CB0"/>
                </a:solidFill>
              </a:defRPr>
            </a:pPr>
            <a:r>
              <a:t>1. Heatwaves are Intensifying Nationwide:</a:t>
            </a:r>
            <a:endParaRPr lang="en-US" sz="1600" dirty="0"/>
          </a:p>
          <a:p>
            <a:pPr>
              <a:spcAft>
                <a:spcPts val="1000"/>
              </a:spcAft>
              <a:defRPr sz="1200">
                <a:solidFill>
                  <a:srgbClr val="2D3748"/>
                </a:solidFill>
              </a:defRPr>
            </a:pPr>
            <a:r>
              <a:t>India recorded 536 cumulative heatwave days in 2024, the highest in 14 years. (Source: IMD / CEEW, 2024)</a:t>
            </a:r>
          </a:p>
          <a:p>
            <a:pPr>
              <a:defRPr sz="1300" b="1">
                <a:solidFill>
                  <a:srgbClr val="2B6CB0"/>
                </a:solidFill>
              </a:defRPr>
            </a:pPr>
            <a:r>
              <a:t>2. Heat Directly Drives Grid Stress:</a:t>
            </a:r>
          </a:p>
          <a:p>
            <a:pPr>
              <a:spcAft>
                <a:spcPts val="1000"/>
              </a:spcAft>
              <a:defRPr sz="1200">
                <a:solidFill>
                  <a:srgbClr val="2D3748"/>
                </a:solidFill>
              </a:defRPr>
            </a:pPr>
            <a:r>
              <a:t>Heatwave conditions added ~9% to peak electricity demand (Apr–Jun 2024), pushing national demand to a record 270.8 GW with localized tripping. (Source: Ministry of Power / Climate Trends, 2025–2026)</a:t>
            </a:r>
          </a:p>
          <a:p>
            <a:pPr>
              <a:defRPr sz="1300" b="1">
                <a:solidFill>
                  <a:srgbClr val="2B6CB0"/>
                </a:solidFill>
              </a:defRPr>
            </a:pPr>
            <a:r>
              <a:t>3. Power Loss &amp; Heat Vulnerability Collide: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CEA and Lancet studies confirm low-income neighborhoods face load-shedding first during peak AC-driven demand, worsening health risk. (Source: The Lancet Planetary Health / Scroll.in, 2024–2026)</a:t>
            </a:r>
          </a:p>
          <a:p>
            <a:pPr>
              <a:defRPr sz="1300" b="1">
                <a:solidFill>
                  <a:srgbClr val="2B6CB0"/>
                </a:solidFill>
              </a:defRPr>
            </a:pPr>
            <a:r>
              <a:t>4. Existing Heat Action Plans Lack Power Integration:</a:t>
            </a:r>
          </a:p>
          <a:p>
            <a:pPr>
              <a:defRPr sz="1200">
                <a:solidFill>
                  <a:srgbClr val="2D3748"/>
                </a:solidFill>
              </a:defRPr>
            </a:pPr>
            <a:r>
              <a:t>Only 4 states and 3 cities integrate backup energy/grid reliability into their Heat Action Plans out of 200+ HAPs nationwide. (Source: Climate Action Tracker / NDMA, 2025–2026)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Climate Connection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28016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E6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1280160"/>
            <a:ext cx="109728" cy="146304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2960" y="1508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this problem connected to climate?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100" b="0">
                <a:solidFill>
                  <a:srgbClr val="2D3748"/>
                </a:solidFill>
              </a:defRPr>
            </a:pPr>
            <a:r>
              <a:t>• Climate change is driving higher baseline summer temperatures and longer contiguous heat spells across India.</a:t>
            </a:r>
            <a:br/>
            <a:r>
              <a:t>• As urban heat islands expand, artificial cooling becomes an absolute survival necessity rather than a comfort amenity.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E6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109728" cy="146304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1546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or what is vulnerable?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100" b="0">
                <a:solidFill>
                  <a:srgbClr val="2D3748"/>
                </a:solidFill>
              </a:defRPr>
            </a:pPr>
            <a:r>
              <a:t>• Human Vulnerability: Dense informal settlements with non-insulated tin roofs and no cooling access.</a:t>
            </a:r>
            <a:br/>
            <a:r>
              <a:t>• Critical Infrastructure: Electrical substations and distribution transformers operating under concurrent extreme ambient heat and peak load.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572000"/>
            <a:ext cx="11247120" cy="1463040"/>
          </a:xfrm>
          <a:prstGeom prst="roundRect">
            <a:avLst>
              <a:gd name="adj" fmla="val 5000"/>
            </a:avLst>
          </a:prstGeom>
          <a:solidFill>
            <a:srgbClr val="E6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4572000"/>
            <a:ext cx="109728" cy="1463040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climate impact are you addressing?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22960" y="53035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100" b="0">
                <a:solidFill>
                  <a:srgbClr val="2D3748"/>
                </a:solidFill>
              </a:defRPr>
            </a:pPr>
            <a:r>
              <a:t>• Climate Adaptation &amp; Urban Resilience (SDG 11 &amp; SDG 13):</a:t>
            </a:r>
            <a:br/>
            <a:r>
              <a:t>• Enables proactive resource routing (cooling centers, misting vans) and equity-weighted power preservation before heat emergencies turn fatal.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37160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 (one clear sentence)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828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200" b="1">
                <a:solidFill>
                  <a:srgbClr val="1A365D"/>
                </a:solidFill>
              </a:defRPr>
            </a:pPr>
            <a:r>
              <a:t>CoolNet AI is an AI-powered climate resilience platform that fuses weather data, electricity-stress indicators, and demographic vulnerability to predict neighborhood-level Compound Climate Risk and recommend targeted interventions.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2400000"/>
            <a:ext cx="10972800" cy="3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  <a:defRPr sz="1300" b="1">
                <a:solidFill>
                  <a:srgbClr val="2B6CB0"/>
                </a:solidFill>
              </a:defRPr>
            </a:pPr>
            <a:r>
              <a:t>How It Works:</a:t>
            </a:r>
            <a:endParaRPr lang="en-US" sz="1600" dirty="0"/>
          </a:p>
          <a:p>
            <a:pPr>
              <a:spcAft>
                <a:spcPts val="500"/>
              </a:spcAft>
              <a:defRPr sz="1150">
                <a:solidFill>
                  <a:srgbClr val="2D3748"/>
                </a:solidFill>
              </a:defRPr>
            </a:pPr>
            <a:r>
              <a:t>• 1. Data Ingestion: Collects real-time weather/Heat Index, census demographic vulnerability, and simulated feeder grid-stress indicators.</a:t>
            </a:r>
          </a:p>
          <a:p>
            <a:pPr>
              <a:spcAft>
                <a:spcPts val="500"/>
              </a:spcAft>
              <a:defRPr sz="1150">
                <a:solidFill>
                  <a:srgbClr val="2D3748"/>
                </a:solidFill>
              </a:defRPr>
            </a:pPr>
            <a:r>
              <a:t>• 2. Compound Risk ML: XGBoost model computes a continuous Compound Climate Risk Score (0–100) per ward.</a:t>
            </a:r>
          </a:p>
          <a:p>
            <a:pPr>
              <a:spcAft>
                <a:spcPts val="500"/>
              </a:spcAft>
              <a:defRPr sz="1150">
                <a:solidFill>
                  <a:srgbClr val="2D3748"/>
                </a:solidFill>
              </a:defRPr>
            </a:pPr>
            <a:r>
              <a:t>• 3. Root-Cause Explainability: Surfaces exact risk drivers (e.g., 'Extreme Heat + 94% Grid Load + High Slum Density').</a:t>
            </a:r>
          </a:p>
          <a:p>
            <a:pPr>
              <a:spcAft>
                <a:spcPts val="500"/>
              </a:spcAft>
              <a:defRPr sz="1150">
                <a:solidFill>
                  <a:srgbClr val="2D3748"/>
                </a:solidFill>
              </a:defRPr>
            </a:pPr>
            <a:r>
              <a:t>• 4. Targeted Action Dispatch: Automatically recommends specific field actions (open cooling centers, dispatch misting vans, prioritize feeder restoration).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It Novel?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2B6CB0"/>
                </a:solidFill>
              </a:defRPr>
            </a:pPr>
            <a:r>
              <a:t>Why CoolNet AI is Radically Different from Traditional Approaches: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</a:defRPr>
            </a:pPr>
            <a:r>
              <a:t>• 1. Compound vs Siloed Intelligence: Traditional HAPs look only at weather; DISCOMs look only at megawatts. CoolNet AI fuses heat, grid load, and socio-economic vulnerability into a single unified risk score.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</a:defRPr>
            </a:pPr>
            <a:r>
              <a:t>• 2. Hyperlocal Ward-Level Precision: Replaces broad, uniform city-wide alerts with granular neighborhood-level triage (down to individual municipal wards).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</a:defRPr>
            </a:pPr>
            <a:r>
              <a:t>• 3. Genuine Explainable AI (XAI): Not a static threshold check. Trained ML model explains exactly WHY an area is critical (SHAP values: hazard vs. grid vs. vulnerability contribution).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</a:defRPr>
            </a:pPr>
            <a:r>
              <a:t>• 4. Equity-First Resource Prioritization: Ensures disaster response and power restoration prioritize low-income, poorly ventilated settlements rather than wealthy AC-heavy zones.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</a:defRPr>
            </a:pPr>
            <a:r>
              <a:t>• 5. Predictive Action vs. Reactive Alerting: Enables 4–6 hours of actionable lead time before peak afternoon heat and grid tripping collide.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11247120" cy="4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250" b="1">
                <a:solidFill>
                  <a:srgbClr val="2B6CB0"/>
                </a:solidFill>
              </a:defRPr>
            </a:pPr>
            <a:r>
              <a:t>1. Machine Learning Core (Compound Risk Prediction):</a:t>
            </a:r>
            <a:endParaRPr lang="en-US" sz="1500" dirty="0"/>
          </a:p>
          <a:p>
            <a:pPr>
              <a:spcAft>
                <a:spcPts val="800"/>
              </a:spcAft>
              <a:defRPr sz="1100">
                <a:solidFill>
                  <a:srgbClr val="2D3748"/>
                </a:solidFill>
              </a:defRPr>
            </a:pPr>
            <a:r>
              <a:t>• Model: XGBoost &amp; LightGBM Regressors for multi-variable non-linear compound risk estimation.</a:t>
            </a:r>
            <a:br/>
            <a:r>
              <a:t>• Explainability: TreeSHAP framework for real-time local feature attribution (Hazard, Exposure, Vulnerability, Grid Stress).</a:t>
            </a:r>
          </a:p>
          <a:p>
            <a:pPr>
              <a:defRPr sz="1250" b="1">
                <a:solidFill>
                  <a:srgbClr val="2B6CB0"/>
                </a:solidFill>
              </a:defRPr>
            </a:pPr>
            <a:r>
              <a:t>2. Data Pipeline &amp; Scientific Honesty:</a:t>
            </a:r>
          </a:p>
          <a:p>
            <a:pPr>
              <a:spcAft>
                <a:spcPts val="800"/>
              </a:spcAft>
              <a:defRPr sz="1100">
                <a:solidFill>
                  <a:srgbClr val="2D3748"/>
                </a:solidFill>
              </a:defRPr>
            </a:pPr>
            <a:r>
              <a:t>• Weather Data (REAL): IMD Historical Heatwave Records (2023–2025) &amp; Open-Meteo API (2m Temp, RH, Heat Index).</a:t>
            </a:r>
            <a:br/>
            <a:r>
              <a:t>• Demographics (REAL): Census of India &amp; OpenStreetMap (Ward population density, informal settlement %, elderly ratio).</a:t>
            </a:r>
            <a:br/>
            <a:r>
              <a:t>• Grid Stress (SIMULATED FOR PROTOTYPE): Calibrated to published SLDC peak demand curves and transformer strain patterns.</a:t>
            </a:r>
          </a:p>
          <a:p>
            <a:pPr>
              <a:defRPr sz="1250" b="1">
                <a:solidFill>
                  <a:srgbClr val="2B6CB0"/>
                </a:solidFill>
              </a:defRPr>
            </a:pPr>
            <a:r>
              <a:t>3. Application Architecture &amp; Tech Stack:</a:t>
            </a:r>
          </a:p>
          <a:p>
            <a:pPr>
              <a:defRPr sz="1100">
                <a:solidFill>
                  <a:srgbClr val="2D3748"/>
                </a:solidFill>
              </a:defRPr>
            </a:pPr>
            <a:r>
              <a:t>• Backend: Python, FastAPI, Pandas, Scikit-Learn, XGBoost, SHAP.</a:t>
            </a:r>
            <a:br/>
            <a:r>
              <a:t>• Frontend / GIS: React, Leaflet / Mapbox GL for interactive real-time ward triage rendering.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/ Proof of Work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11247120" cy="4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  <a:defRPr sz="1300" b="1">
                <a:solidFill>
                  <a:srgbClr val="2B6CB0"/>
                </a:solidFill>
              </a:defRPr>
            </a:pPr>
            <a:r>
              <a:t>Working Command-Center Prototype Features:</a:t>
            </a:r>
            <a:endParaRPr lang="en-US" sz="1600" dirty="0"/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</a:defRPr>
            </a:pPr>
            <a:r>
              <a:t>• Interactive GIS Risk Map: Visualizes all municipal wards with dynamic color coding (🟢 Low &lt;40 → 🟡 Moderate 40-70 → 🔴 Critical &gt;70).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</a:defRPr>
            </a:pPr>
            <a:r>
              <a:t>• Ward Triage Card &amp; 0–100 Score: Clicking any ward displays real-time Heat Index, Grid Strain %, Vulnerability Index, and overall Compound Risk Score.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</a:defRPr>
            </a:pPr>
            <a:r>
              <a:t>• AI Explainability Drawer: Breaks down exact risk drivers in plain language (e.g., 'Risk 92/100 driven by 44.2°C Heat + 94% Grid Overload + High Slum Density').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</a:defRPr>
            </a:pPr>
            <a:r>
              <a:t>• Automated Action Engine: Instantly prescribes targeted interventions: 'Activate Cooling Shelter at Community Center' or 'Prioritize Feeder #4 Restoration'.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</a:defRPr>
            </a:pPr>
            <a:r>
              <a:t>• Heatwave Scenario Simulator: Allows emergency coordinators to simulate a +3°C heat spike or grid feeder trip to preview emerging risk zones 6 hours ahead.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Feasibility &amp; Scalability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B6CB0"/>
                </a:solidFill>
              </a:defRPr>
            </a:pPr>
            <a:r>
              <a:t>Deployment Feasibility &amp; National Scalability Pathway: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</a:defRPr>
            </a:pPr>
            <a:r>
              <a:t>• Zero-Barrier Tier 1 Deployment: Can be deployed immediately in ANY Indian city using publicly available IMD weather data and Census GIS shapefiles with baseline synthetic grid modeling.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</a:defRPr>
            </a:pPr>
            <a:r>
              <a:t>• Smart-City &amp; DISCOM Integration (Tier 2): Modular REST API architecture easily ingests live SCADA substation telemetry and smart meter feeds as utilities open digital interfaces.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</a:defRPr>
            </a:pPr>
            <a:r>
              <a:t>• Low Computational Overhead: XGBoost inference takes &lt;50ms per city grid, running seamlessly on standard municipal cloud servers or edge devices.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</a:defRPr>
            </a:pPr>
            <a:r>
              <a:t>• National Policy Alignment: Directly complements NDMA's National Heat Impact Assessment Framework and fits into existing Smart City Integrated Command and Control Centers (ICCCs).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</a:defRPr>
            </a:pPr>
            <a:r>
              <a:t>• Cross-Hazard Scalability: The compound risk architecture can easily expand to flood + grid collapse during cyclones and monsoon extremes.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Way Forward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E6F4E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A8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Impact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1520" y="210312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050" b="0">
                <a:solidFill>
                  <a:srgbClr val="2D3748"/>
                </a:solidFill>
              </a:defRPr>
            </a:pPr>
            <a:r>
              <a:t>• Prototype Evaluation Metrics:</a:t>
            </a:r>
            <a:br/>
            <a:r>
              <a:t>- 4–6 Hours Lead Time before critical heat-grid peaks</a:t>
            </a:r>
            <a:br/>
            <a:r>
              <a:t>- 85%+ Precision in identifying high-vulnerability wards</a:t>
            </a:r>
            <a:br/>
            <a:r>
              <a:t>- 60% Reduction in response triage decision time</a:t>
            </a:r>
            <a:br/>
            <a:br/>
            <a:r>
              <a:t>• User Transformation:</a:t>
            </a:r>
            <a:br/>
            <a:r>
              <a:t>- Shifts coordinators from reactive broad alerts to surgical, equity-first intervention</a:t>
            </a:r>
            <a:br/>
            <a:r>
              <a:t>- Prevents hidden indoor heatstroke fatalities during power outages.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188720"/>
            <a:ext cx="5486400" cy="4846320"/>
          </a:xfrm>
          <a:prstGeom prst="roundRect">
            <a:avLst>
              <a:gd name="adj" fmla="val 1887"/>
            </a:avLst>
          </a:prstGeom>
          <a:solidFill>
            <a:srgbClr val="E8F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14630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050" b="0">
                <a:solidFill>
                  <a:srgbClr val="2D3748"/>
                </a:solidFill>
              </a:defRPr>
            </a:pPr>
            <a:r>
              <a:t>• Next Steps &amp; Pilot Plan:</a:t>
            </a:r>
            <a:br/>
            <a:r>
              <a:t>- Pilot Testing (Q3 2026): Partner with municipal ward nodal officers in hotspot cities (e.g., Ahmedabad, Bhubaneswar, Delhi)</a:t>
            </a:r>
            <a:br/>
            <a:r>
              <a:t>- Utility Partnership: Collaborate with state DISCOMs for real-time feeder telemetry access</a:t>
            </a:r>
            <a:br/>
            <a:r>
              <a:t>- Policy Integration: Connect API with NDMA &amp; SDMA heat monitoring portals.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One-Slider Presentation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1100" dirty="0"/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2B6CB0"/>
                </a:solidFill>
              </a:defRPr>
            </a:pPr>
            <a:r>
              <a:t>CoolNet AI: Complete Project Summary in One Slide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</a:defRPr>
            </a:pPr>
            <a:r>
              <a:t>• THE PROBLEM: Heatwaves surge AC cooling demand by 9%, pushing grids past 270 GW and causing power cuts in low-income settlements when cooling is most needed.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</a:defRPr>
            </a:pPr>
            <a:r>
              <a:t>• THE GAP: Heat warnings (IMD/HAPs) and power monitoring (DISCOMs) operate in isolated silos; no system sees compound neighborhood risk.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</a:defRPr>
            </a:pPr>
            <a:r>
              <a:t>• OUR SOLUTION: An AI climate intelligence platform fusing weather, demographic vulnerability, and grid-stress signals into a 0–100 Compound Risk Score.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</a:defRPr>
            </a:pPr>
            <a:r>
              <a:t>• CORE AI: Explainable XGBoost/LightGBM model with TreeSHAP feature attribution providing transparent operational reasoning.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</a:defRPr>
            </a:pPr>
            <a:r>
              <a:t>• PROTOTYPE: Live GIS command center with interactive ward triage, scenario simulation, and automated intervention routing.</a:t>
            </a:r>
          </a:p>
          <a:p>
            <a:pPr>
              <a:spcAft>
                <a:spcPts val="500"/>
              </a:spcAft>
              <a:defRPr sz="1100">
                <a:solidFill>
                  <a:srgbClr val="2D3748"/>
                </a:solidFill>
              </a:defRPr>
            </a:pPr>
            <a:r>
              <a:t>• CLIMATE IMPACT: Empowers cities with targeted, equity-first heat resilience, directly advancing SDG 11 (Sustainable Cities) and SDG 13 (Climate Action).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554480" y="2743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Actually Learnt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5875">
            <a:solidFill>
              <a:srgbClr val="DADC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65836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 •  On Campus  •  KCT, Coimbatore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0" y="6583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18872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3716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you learn during this process of problem solving?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173736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050" b="0">
                <a:solidFill>
                  <a:srgbClr val="2D3748"/>
                </a:solidFill>
              </a:defRPr>
            </a:pPr>
            <a:r>
              <a:t>Climate resilience is a socio-technical challenge, not just a weather issue. Grid reliability during heatwaves is a fundamental determinant of human survival.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2316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6060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changed in your understanding?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29718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050" b="0">
                <a:solidFill>
                  <a:srgbClr val="2D3748"/>
                </a:solidFill>
              </a:defRPr>
            </a:pPr>
            <a:r>
              <a:t>Predicting raw weather is already done well by IMD. The real unsolved frontier is predicting the dangerous INTERACTION between heat, infrastructure stress, and social vulnerability.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5760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8404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did validation, failure or mentors teach you?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420624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050" b="0">
                <a:solidFill>
                  <a:srgbClr val="2D3748"/>
                </a:solidFill>
              </a:defRPr>
            </a:pPr>
            <a:r>
              <a:t>Real utility outage data is rarely public; maintaining scientific honesty by clearly labeling simulated grid data makes our architecture credible and robust for jury scrutiny.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892040"/>
            <a:ext cx="11247120" cy="1097280"/>
          </a:xfrm>
          <a:prstGeom prst="roundRect">
            <a:avLst>
              <a:gd name="adj" fmla="val 6667"/>
            </a:avLst>
          </a:prstGeom>
          <a:solidFill>
            <a:srgbClr val="F1F3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85800" y="507492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would you do differently with more time?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5800" y="544068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 sz="1050" b="0">
                <a:solidFill>
                  <a:srgbClr val="2D3748"/>
                </a:solidFill>
              </a:defRPr>
            </a:pPr>
            <a:r>
              <a:t>With more time, we will integrate satellite thermal infrared imagery (Landsat/ECOSTRESS) to capture micro-urban heat island effects down to individual street blocks.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0380" cy="164592"/>
          </a:xfrm>
          <a:prstGeom prst="rect">
            <a:avLst/>
          </a:prstGeom>
          <a:solidFill>
            <a:srgbClr val="4285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040380" y="0"/>
            <a:ext cx="3040380" cy="164592"/>
          </a:xfrm>
          <a:prstGeom prst="rect">
            <a:avLst/>
          </a:prstGeom>
          <a:solidFill>
            <a:srgbClr val="EA43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080760" y="0"/>
            <a:ext cx="3040380" cy="164592"/>
          </a:xfrm>
          <a:prstGeom prst="rect">
            <a:avLst/>
          </a:prstGeom>
          <a:solidFill>
            <a:srgbClr val="FBBC0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21140" y="0"/>
            <a:ext cx="3040380" cy="164592"/>
          </a:xfrm>
          <a:prstGeom prst="rect">
            <a:avLst/>
          </a:prstGeom>
          <a:solidFill>
            <a:srgbClr val="34A8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285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576072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Developer Groups On Campus  •  KCT, Coimbatore</a:t>
            </a:r>
            <a:endParaRPr lang="en-US" sz="1400" dirty="0"/>
          </a:p>
        </p:txBody>
      </p:sp>
      <p:sp>
        <p:nvSpPr>
          <p:cNvPr id="10" name="TextBox 9"/>
          <p:cNvSpPr txBox="1"/>
          <p:nvPr/>
        </p:nvSpPr>
        <p:spPr>
          <a:xfrm>
            <a:off x="640080" y="34747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B6CB0"/>
                </a:solidFill>
              </a:defRPr>
            </a:pPr>
            <a:r>
              <a:t>CoolNet AI — Turning Compound Climate Risk into Targeted Life-Saving Action.</a:t>
            </a:r>
            <a:br/>
            <a:r>
              <a:t>GitHub Repository &amp; Live Prototype Ready for Jury Review.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560</Words>
  <Application>Microsoft Office PowerPoint</Application>
  <PresentationFormat>Widescreen</PresentationFormat>
  <Paragraphs>115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Presentation Template – GDG On Campus KCT</dc:title>
  <dc:subject>Ideathon Final Presentation Template</dc:subject>
  <dc:creator>Google Developer Groups On Campus • KCT, Coimbatore</dc:creator>
  <cp:lastModifiedBy>THARUN N E</cp:lastModifiedBy>
  <cp:revision>4</cp:revision>
  <dcterms:created xsi:type="dcterms:W3CDTF">2026-08-19T23:52:15Z</dcterms:created>
  <dcterms:modified xsi:type="dcterms:W3CDTF">2026-08-20T05:27:51Z</dcterms:modified>
</cp:coreProperties>
</file>